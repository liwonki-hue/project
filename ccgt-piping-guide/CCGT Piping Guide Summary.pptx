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deck based on the CCGT Piping Guide Book (58 pages).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1737359"/>
            <a:ext cx="4937760" cy="4937760"/>
          </a:xfrm>
          <a:prstGeom prst="ellipse">
            <a:avLst/>
          </a:prstGeom>
          <a:solidFill>
            <a:srgbClr val="16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92440" y="2240279"/>
            <a:ext cx="3931920" cy="3931920"/>
          </a:xfrm>
          <a:prstGeom prst="ellipse">
            <a:avLst/>
          </a:prstGeom>
          <a:solidFill>
            <a:srgbClr val="1B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2743199"/>
            <a:ext cx="2926080" cy="292608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98280" y="3246120"/>
            <a:ext cx="1920240" cy="1920240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49807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Cambria"/>
              </a:rPr>
              <a:t>CCGT Piping</a:t>
            </a:r>
          </a:p>
          <a:p>
            <a:pPr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Cambria"/>
              </a:rPr>
              <a:t>Construction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BFD6E6"/>
                </a:solidFill>
                <a:latin typeface="Calibri"/>
              </a:rPr>
              <a:t>Summary of the CCPP Piping Guide Book, from utility systems to COD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BFD6E6"/>
                </a:solidFill>
                <a:latin typeface="Calibri"/>
              </a:rPr>
              <a:t>Piping Construction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Cambria"/>
              </a:rPr>
              <a:t>Guide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CCGT Piping Guide  |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480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0F2A43"/>
                </a:solidFill>
                <a:latin typeface="Cambria"/>
              </a:rPr>
              <a:t>A practical reference for combined cycle power plant piping construction.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4206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2303C"/>
                </a:solidFill>
                <a:latin typeface="Calibri"/>
              </a:rPr>
              <a:t>Prioritize safety and quality at every stage, from material receipt to turnover.</a:t>
            </a:r>
          </a:p>
          <a:p>
            <a:pPr marL="155448" indent="-155448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2303C"/>
                </a:solidFill>
                <a:latin typeface="Calibri"/>
              </a:rPr>
              <a:t>Content may change with the project specification, application code, and design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371600"/>
            <a:ext cx="6217920" cy="822960"/>
          </a:xfrm>
          <a:prstGeom prst="roundRect">
            <a:avLst>
              <a:gd name="adj" fmla="val 12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77840" y="1554480"/>
            <a:ext cx="457200" cy="457200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2646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Practical reference for CCGT piping construction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331720"/>
            <a:ext cx="6217920" cy="822960"/>
          </a:xfrm>
          <a:prstGeom prst="roundRect">
            <a:avLst>
              <a:gd name="adj" fmla="val 12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0" y="2514600"/>
            <a:ext cx="457200" cy="45720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38658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Piping Construction in a CCPP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7432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Systems and installation routes: utility, simple cycle, combined 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3291840"/>
            <a:ext cx="6217920" cy="822960"/>
          </a:xfrm>
          <a:prstGeom prst="roundRect">
            <a:avLst>
              <a:gd name="adj" fmla="val 12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3474720"/>
            <a:ext cx="457200" cy="457200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34670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CCPP Key Milestone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7033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Piping prerequisites for each commissioning 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4251960"/>
            <a:ext cx="6217920" cy="822960"/>
          </a:xfrm>
          <a:prstGeom prst="roundRect">
            <a:avLst>
              <a:gd name="adj" fmla="val 12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77840" y="4434840"/>
            <a:ext cx="457200" cy="45720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30682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Piping Construction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663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Planning, materials, U/G and A/G piping, steam piping, supports, testing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5212080"/>
            <a:ext cx="6217920" cy="822960"/>
          </a:xfrm>
          <a:prstGeom prst="roundRect">
            <a:avLst>
              <a:gd name="adj" fmla="val 12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77840" y="5394960"/>
            <a:ext cx="457200" cy="457200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2669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Lessons Learned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623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Nine field cases with root causes and preventive measures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Cambria"/>
              </a:rPr>
              <a:t>Piping work follows the plant build-up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5B6B78"/>
                </a:solidFill>
                <a:latin typeface="Calibri"/>
              </a:rPr>
              <a:t>Utility supply first, then Simple Cycle (GT), then Combined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CCGT Piping Guide  |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3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600200"/>
            <a:ext cx="2788920" cy="777240"/>
          </a:xfrm>
          <a:prstGeom prst="homePlat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1  Utility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2606040" cy="3017520"/>
          </a:xfrm>
          <a:prstGeom prst="roundRect">
            <a:avLst>
              <a:gd name="adj" fmla="val 4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Fire water, potable and service water</a:t>
            </a:r>
          </a:p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Demineralized water</a:t>
            </a:r>
          </a:p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IA, SA and N2</a:t>
            </a:r>
          </a:p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Vents, drains, waste water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Basis for cleaning, hydro test and flushing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3374136" y="1600200"/>
            <a:ext cx="2788920" cy="777240"/>
          </a:xfrm>
          <a:prstGeom prst="homePlat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2  Simple Cycle (GT)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2606040"/>
            <a:ext cx="2606040" cy="3017520"/>
          </a:xfrm>
          <a:prstGeom prst="roundRect">
            <a:avLst>
              <a:gd name="adj" fmla="val 4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2788920"/>
            <a:ext cx="22402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GT and ancillary systems</a:t>
            </a:r>
          </a:p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Fuel gas and fuel oil supply</a:t>
            </a:r>
          </a:p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Lube oil and cooling (CCW)</a:t>
            </a:r>
          </a:p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GT air intake and exhaust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50292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Enables GT start-up</a:t>
            </a:r>
          </a:p>
        </p:txBody>
      </p:sp>
      <p:sp>
        <p:nvSpPr>
          <p:cNvPr id="14" name="Pentagon 13"/>
          <p:cNvSpPr/>
          <p:nvPr/>
        </p:nvSpPr>
        <p:spPr>
          <a:xfrm>
            <a:off x="6199631" y="1600200"/>
            <a:ext cx="2788920" cy="777240"/>
          </a:xfrm>
          <a:prstGeom prst="homePlat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3  Combined 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606040"/>
            <a:ext cx="2606040" cy="3017520"/>
          </a:xfrm>
          <a:prstGeom prst="roundRect">
            <a:avLst>
              <a:gd name="adj" fmla="val 4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788920"/>
            <a:ext cx="22402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HRSG HP / IP / LP, HRH, CRH steam</a:t>
            </a:r>
          </a:p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Feed water and condensate</a:t>
            </a:r>
          </a:p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Sampling</a:t>
            </a:r>
          </a:p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Chemical dosing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50292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Water-steam cycle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5128" y="1600200"/>
            <a:ext cx="2606040" cy="77724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4  STG &amp; Condenser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5128" y="2606040"/>
            <a:ext cx="2606040" cy="3017520"/>
          </a:xfrm>
          <a:prstGeom prst="roundRect">
            <a:avLst>
              <a:gd name="adj" fmla="val 4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7" y="2788920"/>
            <a:ext cx="22402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STG steam</a:t>
            </a:r>
          </a:p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Bypass steam</a:t>
            </a:r>
          </a:p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Steam drain</a:t>
            </a:r>
          </a:p>
          <a:p>
            <a:pPr marL="155448" indent="-155448">
              <a:spcAft>
                <a:spcPts val="8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Circulation water (CW)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7" y="50292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Steam turbine and heat rejection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0F2A43"/>
                </a:solidFill>
                <a:latin typeface="Calibri"/>
              </a:rPr>
              <a:t>Utility systems are installed early because they supply water, air and fire protection for construction and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Cambria"/>
              </a:rPr>
              <a:t>Water-steam cycle: what the piping connects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5B6B78"/>
                </a:solidFill>
                <a:latin typeface="Calibri"/>
              </a:rPr>
              <a:t>Condensate and feed water path (top) and steam path (bottom)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CCGT Piping Guide  |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517904" cy="914400"/>
          </a:xfrm>
          <a:prstGeom prst="roundRect">
            <a:avLst>
              <a:gd name="adj" fmla="val 12000"/>
            </a:avLst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Condenser hot well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21408" y="1856231"/>
            <a:ext cx="274320" cy="310896"/>
          </a:xfrm>
          <a:prstGeom prst="rightArrow">
            <a:avLst/>
          </a:prstGeom>
          <a:solidFill>
            <a:srgbClr val="A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50592" y="1554480"/>
            <a:ext cx="1517904" cy="914400"/>
          </a:xfrm>
          <a:prstGeom prst="roundRect">
            <a:avLst>
              <a:gd name="adj" fmla="val 12000"/>
            </a:avLst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Condensate pumps (CEP)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3359" y="1856231"/>
            <a:ext cx="274320" cy="310896"/>
          </a:xfrm>
          <a:prstGeom prst="rightArrow">
            <a:avLst/>
          </a:prstGeom>
          <a:solidFill>
            <a:srgbClr val="A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2544" y="1554480"/>
            <a:ext cx="1517904" cy="914400"/>
          </a:xfrm>
          <a:prstGeom prst="roundRect">
            <a:avLst>
              <a:gd name="adj" fmla="val 12000"/>
            </a:avLst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Preheater (CPH) or LP economizer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25312" y="1856231"/>
            <a:ext cx="274320" cy="310896"/>
          </a:xfrm>
          <a:prstGeom prst="rightArrow">
            <a:avLst/>
          </a:prstGeom>
          <a:solidFill>
            <a:srgbClr val="A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54496" y="1554480"/>
            <a:ext cx="1517904" cy="914400"/>
          </a:xfrm>
          <a:prstGeom prst="roundRect">
            <a:avLst>
              <a:gd name="adj" fmla="val 12000"/>
            </a:avLst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Deaerator or LP drum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27264" y="1856231"/>
            <a:ext cx="274320" cy="310896"/>
          </a:xfrm>
          <a:prstGeom prst="rightArrow">
            <a:avLst/>
          </a:prstGeom>
          <a:solidFill>
            <a:srgbClr val="A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6448" y="1554480"/>
            <a:ext cx="1517904" cy="914400"/>
          </a:xfrm>
          <a:prstGeom prst="roundRect">
            <a:avLst>
              <a:gd name="adj" fmla="val 12000"/>
            </a:avLst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Boiler feed pumps (BFP)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729216" y="1856231"/>
            <a:ext cx="274320" cy="310896"/>
          </a:xfrm>
          <a:prstGeom prst="rightArrow">
            <a:avLst/>
          </a:prstGeom>
          <a:solidFill>
            <a:srgbClr val="A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0" y="1554480"/>
            <a:ext cx="1517904" cy="914400"/>
          </a:xfrm>
          <a:prstGeom prst="roundRect">
            <a:avLst>
              <a:gd name="adj" fmla="val 12000"/>
            </a:avLst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HP / IP economizers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88920"/>
            <a:ext cx="1517904" cy="914400"/>
          </a:xfrm>
          <a:prstGeom prst="roundRect">
            <a:avLst>
              <a:gd name="adj" fmla="val 12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HP / IP / LP drums, evaporators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121408" y="3090672"/>
            <a:ext cx="274320" cy="310896"/>
          </a:xfrm>
          <a:prstGeom prst="rightArrow">
            <a:avLst/>
          </a:prstGeom>
          <a:solidFill>
            <a:srgbClr val="F3B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50592" y="2788920"/>
            <a:ext cx="1517904" cy="914400"/>
          </a:xfrm>
          <a:prstGeom prst="roundRect">
            <a:avLst>
              <a:gd name="adj" fmla="val 12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Superheaters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023359" y="3090672"/>
            <a:ext cx="274320" cy="310896"/>
          </a:xfrm>
          <a:prstGeom prst="rightArrow">
            <a:avLst/>
          </a:prstGeom>
          <a:solidFill>
            <a:srgbClr val="F3B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52544" y="2788920"/>
            <a:ext cx="1517904" cy="914400"/>
          </a:xfrm>
          <a:prstGeom prst="roundRect">
            <a:avLst>
              <a:gd name="adj" fmla="val 12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HP turbine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25312" y="3090672"/>
            <a:ext cx="274320" cy="310896"/>
          </a:xfrm>
          <a:prstGeom prst="rightArrow">
            <a:avLst/>
          </a:prstGeom>
          <a:solidFill>
            <a:srgbClr val="F3B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4496" y="2788920"/>
            <a:ext cx="1517904" cy="914400"/>
          </a:xfrm>
          <a:prstGeom prst="roundRect">
            <a:avLst>
              <a:gd name="adj" fmla="val 12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Cold reheat (CRH), reheater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27264" y="3090672"/>
            <a:ext cx="274320" cy="310896"/>
          </a:xfrm>
          <a:prstGeom prst="rightArrow">
            <a:avLst/>
          </a:prstGeom>
          <a:solidFill>
            <a:srgbClr val="F3B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56448" y="2788920"/>
            <a:ext cx="1517904" cy="914400"/>
          </a:xfrm>
          <a:prstGeom prst="roundRect">
            <a:avLst>
              <a:gd name="adj" fmla="val 12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Hot reheat (HRH)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29216" y="3090672"/>
            <a:ext cx="274320" cy="310896"/>
          </a:xfrm>
          <a:prstGeom prst="rightArrow">
            <a:avLst/>
          </a:prstGeom>
          <a:solidFill>
            <a:srgbClr val="F3B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58400" y="2788920"/>
            <a:ext cx="1517904" cy="914400"/>
          </a:xfrm>
          <a:prstGeom prst="roundRect">
            <a:avLst>
              <a:gd name="adj" fmla="val 12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IP / LP turbine, condenser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14800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261104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Water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773168"/>
            <a:ext cx="320954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50" b="0">
                <a:solidFill>
                  <a:srgbClr val="22303C"/>
                </a:solidFill>
                <a:latin typeface="Calibri"/>
              </a:rPr>
              <a:t>Sampling lines from HRSG to sampling rack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50" b="0">
                <a:solidFill>
                  <a:srgbClr val="22303C"/>
                </a:solidFill>
                <a:latin typeface="Calibri"/>
              </a:rPr>
              <a:t>Chemical dosing points on feed water and steam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4114800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7" y="4261104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Steam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7" y="4773168"/>
            <a:ext cx="320954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50" b="0">
                <a:solidFill>
                  <a:srgbClr val="22303C"/>
                </a:solidFill>
                <a:latin typeface="Calibri"/>
              </a:rPr>
              <a:t>Drains and vents at low and high points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50" b="0">
                <a:solidFill>
                  <a:srgbClr val="22303C"/>
                </a:solidFill>
                <a:latin typeface="Calibri"/>
              </a:rPr>
              <a:t>Continuous slope toward drains, traps at low points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4114800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7888" y="4261104"/>
            <a:ext cx="32278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Turbine protection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4773168"/>
            <a:ext cx="320954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50" b="0">
                <a:solidFill>
                  <a:srgbClr val="22303C"/>
                </a:solidFill>
                <a:latin typeface="Calibri"/>
              </a:rPr>
              <a:t>Bypass: HP to CRH, HRH and LP to condenser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50" b="0">
                <a:solidFill>
                  <a:srgbClr val="22303C"/>
                </a:solidFill>
                <a:latin typeface="Calibri"/>
              </a:rPr>
              <a:t>Stop and control valves, gland and seal steam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Cambria"/>
              </a:rPr>
              <a:t>STG and condenser systems: key installation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CCGT Piping Guide  |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36192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517904"/>
            <a:ext cx="45994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STG steam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29967"/>
            <a:ext cx="50383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HRSG outlet headers, then stop and control valves, then turbine casing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Hangers and spring supports absorb thermal expansion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Precise alignment avoids stress on turbine nozzles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5080" y="1536192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1517904"/>
            <a:ext cx="45994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Bypass steam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29967"/>
            <a:ext cx="50383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HP bypass goes to the CRH line; HRH and LP bypass go to the condenser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Stop and control valves, relief devices, drains, vents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Protects turbine during start-up, shutdown and load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005072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3986784"/>
            <a:ext cx="45994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Steam drain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498848"/>
            <a:ext cx="50383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Drains at low points, bends and equipment inlets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Steam traps separate condensate; vents release gases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Continuous slope, drain always below the header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4048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5080" y="4005072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3986784"/>
            <a:ext cx="45994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Circulation water (CW)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498848"/>
            <a:ext cx="50383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Large-bore GRP underground, rubber-lined carbon steel above ground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Heavy pipe needs robust supports; alignment is critical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50" b="0">
                <a:solidFill>
                  <a:srgbClr val="22303C"/>
                </a:solidFill>
                <a:latin typeface="Calibri"/>
              </a:rPr>
              <a:t>Expansion joints secured with tie-rods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Cambria"/>
              </a:rPr>
              <a:t>Key milestones and the piping behind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5B6B78"/>
                </a:solidFill>
                <a:latin typeface="Calibri"/>
              </a:rPr>
              <a:t>14 steps from utility supply to commercial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CCGT Piping Guide  |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682495"/>
            <a:ext cx="457200" cy="45720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Utility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57984" y="155448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67712" y="1682495"/>
            <a:ext cx="457200" cy="45720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26771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Power Receiving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67328" y="155448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77056" y="1682495"/>
            <a:ext cx="457200" cy="45720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7056" y="226771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Demi Water 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55448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1682495"/>
            <a:ext cx="457200" cy="45720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26771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Cooling Water Load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155448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95744" y="1682495"/>
            <a:ext cx="457200" cy="45720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226771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HRSG Hydro Test, Pump Load Test, Chemical Cleaning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155448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05088" y="1682495"/>
            <a:ext cx="457200" cy="45720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26771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GT Lube Oil Flushing and Functional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04704" y="155448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14432" y="1682495"/>
            <a:ext cx="457200" cy="45720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4432" y="226771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GT Initial Firing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0332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" y="3831335"/>
            <a:ext cx="457200" cy="45720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41655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GT Synchronization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57984" y="370332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67712" y="3831335"/>
            <a:ext cx="457200" cy="45720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67712" y="441655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Steam Blowing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67328" y="370332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77056" y="3831335"/>
            <a:ext cx="457200" cy="45720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77056" y="441655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ST Lube Oil Flushing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76672" y="370332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86400" y="3831335"/>
            <a:ext cx="457200" cy="45720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441655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ST Steam Admission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86016" y="370332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95744" y="3831335"/>
            <a:ext cx="457200" cy="45720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95744" y="441655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ST Synchronization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0" y="370332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05088" y="3831335"/>
            <a:ext cx="457200" cy="457200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441655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Performance and Reliability Tests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04704" y="3703320"/>
            <a:ext cx="1481328" cy="192024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314432" y="3831335"/>
            <a:ext cx="457200" cy="457200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14432" y="4416552"/>
            <a:ext cx="1298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Commercial Operation Date (COD)</a:t>
            </a:r>
          </a:p>
        </p:txBody>
      </p:sp>
      <p:sp>
        <p:nvSpPr>
          <p:cNvPr id="48" name="Oval 47"/>
          <p:cNvSpPr/>
          <p:nvPr/>
        </p:nvSpPr>
        <p:spPr>
          <a:xfrm>
            <a:off x="548640" y="5943600"/>
            <a:ext cx="201168" cy="201168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7" y="588873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Water, cooling and cycle readiness</a:t>
            </a:r>
          </a:p>
        </p:txBody>
      </p:sp>
      <p:sp>
        <p:nvSpPr>
          <p:cNvPr id="50" name="Oval 49"/>
          <p:cNvSpPr/>
          <p:nvPr/>
        </p:nvSpPr>
        <p:spPr>
          <a:xfrm>
            <a:off x="3383280" y="5943600"/>
            <a:ext cx="201168" cy="201168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75888" y="588873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GT operation</a:t>
            </a:r>
          </a:p>
        </p:txBody>
      </p:sp>
      <p:sp>
        <p:nvSpPr>
          <p:cNvPr id="52" name="Oval 51"/>
          <p:cNvSpPr/>
          <p:nvPr/>
        </p:nvSpPr>
        <p:spPr>
          <a:xfrm>
            <a:off x="6217920" y="5943600"/>
            <a:ext cx="201168" cy="201168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10528" y="588873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Steam cycle</a:t>
            </a:r>
          </a:p>
        </p:txBody>
      </p:sp>
      <p:sp>
        <p:nvSpPr>
          <p:cNvPr id="54" name="Oval 53"/>
          <p:cNvSpPr/>
          <p:nvPr/>
        </p:nvSpPr>
        <p:spPr>
          <a:xfrm>
            <a:off x="9052560" y="5943600"/>
            <a:ext cx="201168" cy="20116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45168" y="588873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Performance and handover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Cambria"/>
              </a:rPr>
              <a:t>Piping that must be ready before each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CCGT Piping Guide  |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39" cy="5093208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7955279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Commissioning step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Piping prerequisite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0F2A43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Power receiving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303C"/>
                          </a:solidFill>
                          <a:latin typeface="Calibri"/>
                        </a:rPr>
                        <a:t>Fire water and potable water (WT/WWT, CEB) done; IA piping tested and purged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Demi water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303C"/>
                          </a:solidFill>
                          <a:latin typeface="Calibri"/>
                        </a:rPr>
                        <a:t>Piping from WT building to demi tank, pumps and HRSG installed, supported, hydro-tested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HRSG hydro and chemical cleaning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303C"/>
                          </a:solidFill>
                          <a:latin typeface="Calibri"/>
                        </a:rPr>
                        <a:t>HRSG steam, feed water and condensate piping; BFP installed; temporary loops, blinds, vents, drains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GT lube oil flushing and firing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303C"/>
                          </a:solidFill>
                          <a:latin typeface="Calibri"/>
                        </a:rPr>
                        <a:t>Fuel line cleaned and N2-purged; CCW and IA lines complete; lube oil piping tested; exhaust supported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Steam blowing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303C"/>
                          </a:solidFill>
                          <a:latin typeface="Calibri"/>
                        </a:rPr>
                        <a:t>Steam and bypass piping hydro-tested (at least 3 months before) and insulated; temporary piping and silencers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ST steam admission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303C"/>
                          </a:solidFill>
                          <a:latin typeface="Calibri"/>
                        </a:rPr>
                        <a:t>HP / IP / LP steam, drains, vents, seal steam, sampling and dosing lines; support TA on site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Performance and reliability tests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303C"/>
                          </a:solidFill>
                          <a:latin typeface="Calibri"/>
                        </a:rPr>
                        <a:t>All permanent piping complete; test boundary valves tight; measurement points calibrated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COD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303C"/>
                          </a:solidFill>
                          <a:latin typeface="Calibri"/>
                        </a:rPr>
                        <a:t>Punch list and NCRs closed; insulation, labeling and support corrections finished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Cambria"/>
              </a:rPr>
              <a:t>Piping construction management: six control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CCGT Piping Guide  |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611880" cy="242316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90472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472184"/>
            <a:ext cx="27706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2A43"/>
                </a:solidFill>
                <a:latin typeface="Calibri"/>
              </a:rPr>
              <a:t>General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84248"/>
            <a:ext cx="3209544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Review contract and ASME B31.1 before work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WPS / PQR / WQT for every weld; P91, P22, P11 critical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NDE and PWHT as specified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25880"/>
            <a:ext cx="3611880" cy="242316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59" y="1490472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7" y="1472184"/>
            <a:ext cx="27706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2A43"/>
                </a:solidFill>
                <a:latin typeface="Calibri"/>
              </a:rPr>
              <a:t>Drawing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7" y="1984248"/>
            <a:ext cx="3209544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Coordinate with engineering on latest revisions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Install only per approved drawings and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25880"/>
            <a:ext cx="3611880" cy="242316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9" y="1490472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1472184"/>
            <a:ext cx="27706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2A43"/>
                </a:solidFill>
                <a:latin typeface="Calibri"/>
              </a:rPr>
              <a:t>Material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84248"/>
            <a:ext cx="3209544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Real-time issue and inventory tracking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Early order: alloy pipe, electrodes, WQT coupons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Store tagged spring supports and snubbers separately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3611880" cy="242316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096511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78224"/>
            <a:ext cx="27706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2A43"/>
                </a:solidFill>
                <a:latin typeface="Calibri"/>
              </a:rPr>
              <a:t>Manpower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590288"/>
            <a:ext cx="3209544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Dedicated scaffolding team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Support team from the start of piping erection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Experienced foremen for steam supports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931920"/>
            <a:ext cx="3611880" cy="242316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80559" y="4096511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7" y="4078224"/>
            <a:ext cx="27706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2A43"/>
                </a:solidFill>
                <a:latin typeface="Calibri"/>
              </a:rPr>
              <a:t>System-based priority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7" y="4590288"/>
            <a:ext cx="3209544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Utilities first, then headers on pipe racks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Bulk large-bore lines, finish system by system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Follow commissioning schedule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931920"/>
            <a:ext cx="3611880" cy="242316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599" y="4096511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4078224"/>
            <a:ext cx="27706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2A43"/>
                </a:solidFill>
                <a:latin typeface="Calibri"/>
              </a:rPr>
              <a:t>Hydro test and isolation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590288"/>
            <a:ext cx="3209544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Complete hydro tests before commissioning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Isolation valves upstream of each building if tests come later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Plan vents and drains, keep valves accessible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Cambria"/>
              </a:rPr>
              <a:t>Underground piping by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CCGT Piping Guide  |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2679192" cy="333756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72184"/>
            <a:ext cx="22951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0F2A43"/>
                </a:solidFill>
                <a:latin typeface="Calibri"/>
              </a:rPr>
              <a:t>HDPE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227685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Fire, potable and service water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Butt fusion or electrofusion; log fusion parameters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Anchor blocks at bends, tees, valves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NFPA / AWWA, or FM / UL approved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325880"/>
            <a:ext cx="2679192" cy="333756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472184"/>
            <a:ext cx="22951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0F2A43"/>
                </a:solidFill>
                <a:latin typeface="Calibri"/>
              </a:rPr>
              <a:t>GRP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84248"/>
            <a:ext cx="227685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Circulating water, chemical service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Uniform bedding to avoid point loads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Thrust blocks at direction changes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Check U/G to A/G alignment before connection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25880"/>
            <a:ext cx="2679192" cy="333756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72184"/>
            <a:ext cx="22951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0F2A43"/>
                </a:solidFill>
                <a:latin typeface="Calibri"/>
              </a:rPr>
              <a:t>CPVC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84248"/>
            <a:ext cx="227685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Chemical service water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Solvent-welded at ambient temperature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Avoid sharp bends; allow for expansion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Hydro test before backfill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325880"/>
            <a:ext cx="2679192" cy="333756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4" y="1472184"/>
            <a:ext cx="229514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0F2A43"/>
                </a:solidFill>
                <a:latin typeface="Calibri"/>
              </a:rPr>
              <a:t>PE-coated steel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4" y="1984248"/>
            <a:ext cx="227685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High-pressure water, fuel, process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Field joint coating and holiday test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Cathodic protection as needed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303C"/>
                </a:solidFill>
                <a:latin typeface="Calibri"/>
              </a:rPr>
              <a:t>Protect coating during backfill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56048"/>
            <a:ext cx="10515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Calibri"/>
              </a:rPr>
              <a:t>Sequence: </a:t>
            </a:r>
            <a:r>
              <a:rPr sz="1450" b="0">
                <a:solidFill>
                  <a:srgbClr val="FFFFFF"/>
                </a:solidFill>
                <a:latin typeface="Calibri"/>
              </a:rPr>
              <a:t>trench and bedding, lower pipe, joint, inspect, hydro test, layered backfill, as-built survey.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Calibri"/>
              </a:rPr>
              <a:t>If a U/G line meets A/G piping without an isolation valve, </a:t>
            </a:r>
            <a:r>
              <a:rPr sz="1450" b="0">
                <a:solidFill>
                  <a:srgbClr val="FFFFFF"/>
                </a:solidFill>
                <a:latin typeface="Calibri"/>
              </a:rPr>
              <a:t>the A/G pressure test includes the U/G section.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Calibri"/>
              </a:rPr>
              <a:t>Early U/G lines need protection </a:t>
            </a:r>
            <a:r>
              <a:rPr sz="1450" b="0">
                <a:solidFill>
                  <a:srgbClr val="FFFFFF"/>
                </a:solidFill>
                <a:latin typeface="Calibri"/>
              </a:rPr>
              <a:t>(sand bedding, cover boards); confirm tank erection dates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Cambria"/>
              </a:rPr>
              <a:t>Aboveground piping: process and material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CCGT Piping Guide  |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10</a:t>
            </a:r>
          </a:p>
        </p:txBody>
      </p:sp>
      <p:sp>
        <p:nvSpPr>
          <p:cNvPr id="5" name="Pentagon 4"/>
          <p:cNvSpPr/>
          <p:nvPr/>
        </p:nvSpPr>
        <p:spPr>
          <a:xfrm>
            <a:off x="548640" y="1280160"/>
            <a:ext cx="1828800" cy="685800"/>
          </a:xfrm>
          <a:prstGeom prst="homePlat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Spool inspection</a:t>
            </a:r>
          </a:p>
        </p:txBody>
      </p:sp>
      <p:sp>
        <p:nvSpPr>
          <p:cNvPr id="6" name="Pentagon 5"/>
          <p:cNvSpPr/>
          <p:nvPr/>
        </p:nvSpPr>
        <p:spPr>
          <a:xfrm>
            <a:off x="2404872" y="1280160"/>
            <a:ext cx="1828800" cy="685800"/>
          </a:xfrm>
          <a:prstGeom prst="homePlat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Erect and align</a:t>
            </a:r>
          </a:p>
        </p:txBody>
      </p:sp>
      <p:sp>
        <p:nvSpPr>
          <p:cNvPr id="7" name="Pentagon 6"/>
          <p:cNvSpPr/>
          <p:nvPr/>
        </p:nvSpPr>
        <p:spPr>
          <a:xfrm>
            <a:off x="4261103" y="1280160"/>
            <a:ext cx="1828800" cy="685800"/>
          </a:xfrm>
          <a:prstGeom prst="homePlat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Weld and NDE</a:t>
            </a:r>
          </a:p>
        </p:txBody>
      </p:sp>
      <p:sp>
        <p:nvSpPr>
          <p:cNvPr id="8" name="Pentagon 7"/>
          <p:cNvSpPr/>
          <p:nvPr/>
        </p:nvSpPr>
        <p:spPr>
          <a:xfrm>
            <a:off x="6117336" y="1280160"/>
            <a:ext cx="1828800" cy="685800"/>
          </a:xfrm>
          <a:prstGeom prst="homePlat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Pressure test</a:t>
            </a:r>
          </a:p>
        </p:txBody>
      </p:sp>
      <p:sp>
        <p:nvSpPr>
          <p:cNvPr id="9" name="Pentagon 8"/>
          <p:cNvSpPr/>
          <p:nvPr/>
        </p:nvSpPr>
        <p:spPr>
          <a:xfrm>
            <a:off x="7973567" y="1280160"/>
            <a:ext cx="1828800" cy="685800"/>
          </a:xfrm>
          <a:prstGeom prst="homePlat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Insulate and paint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9799" y="1280160"/>
            <a:ext cx="1828800" cy="6858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As-built and turnover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286000"/>
          <a:ext cx="11064240" cy="388620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813816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Key controls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0F2A43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Alloy steel (P91, P22, P11)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303C"/>
                          </a:solidFill>
                          <a:latin typeface="Calibri"/>
                        </a:rPr>
                        <a:t>Heat number check; preheat and interpass control; PWHT with calibrated equipment; expansion loops, guides, anchors; controlled heat-up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Carbon steel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303C"/>
                          </a:solidFill>
                          <a:latin typeface="Calibri"/>
                        </a:rPr>
                        <a:t>Soft slings; guides, shoes and anchors first; adjust supports for slope; dry, primer and paint after test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Stainless steel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303C"/>
                          </a:solidFill>
                          <a:latin typeface="Calibri"/>
                        </a:rPr>
                        <a:t>Non-ferrous handling and wooden storage; low heat input; pickling and passivation; chloride-free test water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Galvanized / coated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303C"/>
                          </a:solidFill>
                          <a:latin typeface="Calibri"/>
                        </a:rPr>
                        <a:t>Padded slings and liners; minimize welding; recoat field welds immediately; repair coating damage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Cambria"/>
              </a:rPr>
              <a:t>Steam piping and supports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CCGT Piping Guide  |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120640" cy="3977639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72184"/>
            <a:ext cx="47365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Steam piping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4718303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Follow ASME B31.1, stress analysis and traceability records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Erect from the turbine nozzle outward; avoid cold pull at turbine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Check slope and tolerances at turbine and HRSG connections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Preheat, interpass control and PWHT for P91, P22, P11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Hydro test before insulation; dry and preserve after test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Steam piping supports are the hardest installation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25880"/>
            <a:ext cx="5669280" cy="704088"/>
          </a:xfrm>
          <a:prstGeom prst="roundRect">
            <a:avLst>
              <a:gd name="adj" fmla="val 12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80760" y="1453895"/>
            <a:ext cx="457200" cy="45720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36245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Rigid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64207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Anchors and guides; transfer static and dynamic loads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121408"/>
            <a:ext cx="5669280" cy="704088"/>
          </a:xfrm>
          <a:prstGeom prst="roundRect">
            <a:avLst>
              <a:gd name="adj" fmla="val 12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80760" y="2249424"/>
            <a:ext cx="457200" cy="45720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579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Spring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59736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Set to cold load; keep travel stops until hydro test ends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916936"/>
            <a:ext cx="5669280" cy="704088"/>
          </a:xfrm>
          <a:prstGeom prst="roundRect">
            <a:avLst>
              <a:gd name="adj" fmla="val 12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80760" y="3044952"/>
            <a:ext cx="457200" cy="45720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535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Snubber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5526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Restrain shock loads, allow slow movement; function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712463"/>
            <a:ext cx="5669280" cy="704088"/>
          </a:xfrm>
          <a:prstGeom prst="roundRect">
            <a:avLst>
              <a:gd name="adj" fmla="val 12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80760" y="3840479"/>
            <a:ext cx="457200" cy="45720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749039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Sliding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050791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Axial movement with lateral restraint; check clearance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507992"/>
            <a:ext cx="5669280" cy="704088"/>
          </a:xfrm>
          <a:prstGeom prst="roundRect">
            <a:avLst>
              <a:gd name="adj" fmla="val 12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80760" y="4636007"/>
            <a:ext cx="457200" cy="45720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5445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Special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8463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Sway braces, struts, sliding shoes for wind and vibration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Support TA: </a:t>
            </a:r>
            <a:r>
              <a:rPr sz="1600" b="0">
                <a:solidFill>
                  <a:srgbClr val="FFFFFF"/>
                </a:solidFill>
                <a:latin typeface="Calibri"/>
              </a:rPr>
              <a:t>verifies cold setting after hydro test and thermal movement at steam admission (hot function).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Cambria"/>
              </a:rPr>
              <a:t>Pressure test: ASME B31.1 and B31.3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5B6B78"/>
                </a:solidFill>
                <a:latin typeface="Calibri"/>
              </a:rPr>
              <a:t>Each test package names the governing code, pressure, hold time and medium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CCGT Piping Guide  |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142232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4434840"/>
                <a:gridCol w="44348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ASME B31.1 (Power Piping)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ASME B31.3 (Process Piping)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0F2A4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2A43"/>
                          </a:solidFill>
                          <a:latin typeface="Calibri"/>
                        </a:rPr>
                        <a:t>Applies to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303C"/>
                          </a:solidFill>
                          <a:latin typeface="Calibri"/>
                        </a:rPr>
                        <a:t>Steam, feed water, condensate, drains; boiler external piping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303C"/>
                          </a:solidFill>
                          <a:latin typeface="Calibri"/>
                        </a:rPr>
                        <a:t>Systems designated by the spec: fuel gas, fuel oil treatment, chemical dosing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2A43"/>
                          </a:solidFill>
                          <a:latin typeface="Calibri"/>
                        </a:rPr>
                        <a:t>Hydrostatic pressure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303C"/>
                          </a:solidFill>
                          <a:latin typeface="Calibri"/>
                        </a:rPr>
                        <a:t>At least 1.5 x design pressure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303C"/>
                          </a:solidFill>
                          <a:latin typeface="Calibri"/>
                        </a:rPr>
                        <a:t>At least 1.5 x design pressure, corrected by ST/S (max 6.5)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2A43"/>
                          </a:solidFill>
                          <a:latin typeface="Calibri"/>
                        </a:rPr>
                        <a:t>Hold time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303C"/>
                          </a:solidFill>
                          <a:latin typeface="Calibri"/>
                        </a:rPr>
                        <a:t>At least 10 minutes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303C"/>
                          </a:solidFill>
                          <a:latin typeface="Calibri"/>
                        </a:rPr>
                        <a:t>At least 10 minutes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2A43"/>
                          </a:solidFill>
                          <a:latin typeface="Calibri"/>
                        </a:rPr>
                        <a:t>Pneumatic pressure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303C"/>
                          </a:solidFill>
                          <a:latin typeface="Calibri"/>
                        </a:rPr>
                        <a:t>1.2 to 1.5 x design pressure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303C"/>
                          </a:solidFill>
                          <a:latin typeface="Calibri"/>
                        </a:rPr>
                        <a:t>1.1 x design pressure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2A43"/>
                          </a:solidFill>
                          <a:latin typeface="Calibri"/>
                        </a:rPr>
                        <a:t>Pneumatic procedure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303C"/>
                          </a:solidFill>
                          <a:latin typeface="Calibri"/>
                        </a:rPr>
                        <a:t>Stepwise: check at the lesser of half test pressure or 170 kPa, then reduce to design pressure for leak exam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303C"/>
                          </a:solidFill>
                          <a:latin typeface="Calibri"/>
                        </a:rPr>
                        <a:t>Same stepwise method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2A43"/>
                          </a:solidFill>
                          <a:latin typeface="Calibri"/>
                        </a:rPr>
                        <a:t>Other tests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303C"/>
                          </a:solidFill>
                          <a:latin typeface="Calibri"/>
                        </a:rPr>
                        <a:t>Initial service leak test not allowed for boiler external piping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303C"/>
                          </a:solidFill>
                          <a:latin typeface="Calibri"/>
                        </a:rPr>
                        <a:t>Sensitive leak test if specified; initial service test only for Category D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Hydro is preferred; pneumatic only with risk assessment and relief devices. Project specification and Owner PO take precedence; verify the code edition.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Cambria"/>
              </a:rPr>
              <a:t>Other field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CCGT Piping Guide  |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90472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472184"/>
            <a:ext cx="45994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Control valve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84248"/>
            <a:ext cx="5038344" cy="1554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Before hydro test: remove internal parts and actuator, fit blind flange on valve body top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After test: reinstall under the supplier TA witness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Align hydro schedule with the TA visit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5080" y="1490472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1472184"/>
            <a:ext cx="45994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Check valve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84248"/>
            <a:ext cx="5038344" cy="1554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Install in arrow direction, orientation per manufacturer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Remove or gag internals for hydro; restore afterwards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Protect internals during flushing, cleaning and steam blowing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005072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3986784"/>
            <a:ext cx="45994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Pump piping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498848"/>
            <a:ext cx="5038344" cy="1554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Keep straight run upstream of the suction nozzle (about 5D)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Comply with spacing and vendor requirements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4048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5080" y="4005072"/>
            <a:ext cx="365760" cy="36576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3986784"/>
            <a:ext cx="45994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Instrument connections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498848"/>
            <a:ext cx="5038344" cy="1554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Review hook-up drawings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Steam: side taps, sloped impulse lines with condensate pots</a:t>
            </a:r>
          </a:p>
          <a:p>
            <a:pPr marL="155448" indent="-15544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22303C"/>
                </a:solidFill>
                <a:latin typeface="Calibri"/>
              </a:rPr>
              <a:t>Liquid: side or slightly below centerline; gas and air: top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Cambria"/>
              </a:rPr>
              <a:t>Lessons learned: nine field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CCGT Piping Guide  |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B78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40" cy="4992624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356616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Prevention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0F2A4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2A43"/>
                          </a:solidFill>
                          <a:latin typeface="Calibri"/>
                        </a:rPr>
                        <a:t>HP steam supports rub in HP turbine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Expansion constrained at HP MSV connection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Erect from turbine outward; follow drawings and cold setting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2A43"/>
                          </a:solidFill>
                          <a:latin typeface="Calibri"/>
                        </a:rPr>
                        <a:t>Steam piping slope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Reverse slope; fit-up did not check slope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Verify slope against drawings before final weld-up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2A43"/>
                          </a:solidFill>
                          <a:latin typeface="Calibri"/>
                        </a:rPr>
                        <a:t>Steam supports installed wrongly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Hasty work, weak drawing understanding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Experienced crews; enough time; inspect cold setting and gaps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2A43"/>
                          </a:solidFill>
                          <a:latin typeface="Calibri"/>
                        </a:rPr>
                        <a:t>DN900 butterfly valve reversed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ISO flow marking conflicted with design intent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Check ISO against P&amp;ID before installation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2A43"/>
                          </a:solidFill>
                          <a:latin typeface="Calibri"/>
                        </a:rPr>
                        <a:t>Missing expansion joint tie-rods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Tie-rods omitted; buried GRP moved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Install complete tie-rod assemblies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2A43"/>
                          </a:solidFill>
                          <a:latin typeface="Calibri"/>
                        </a:rPr>
                        <a:t>Steam drain too high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Design error, drain above flash tank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Design review: drain below header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2A43"/>
                          </a:solidFill>
                          <a:latin typeface="Calibri"/>
                        </a:rPr>
                        <a:t>Sampling line blocked, tie-in mismatch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Routing not verified; plastic caps left on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3D model review; end-cap and cleanliness checks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2A43"/>
                          </a:solidFill>
                          <a:latin typeface="Calibri"/>
                        </a:rPr>
                        <a:t>GT fuel oil filter omitted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Design oversight, supplier scope gap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Confirm GT fuel requirements before construction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E8F0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2A43"/>
                          </a:solidFill>
                          <a:latin typeface="Calibri"/>
                        </a:rPr>
                        <a:t>CCW branch without isolation valves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Design used operating criteria only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03C"/>
                          </a:solidFill>
                          <a:latin typeface="Calibri"/>
                        </a:rPr>
                        <a:t>Add branch isolation valves; plan for construction sequence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C9D6E0"/>
                      </a:solidFill>
                    </a:lnL>
                    <a:lnR w="6350">
                      <a:solidFill>
                        <a:srgbClr val="C9D6E0"/>
                      </a:solidFill>
                    </a:lnR>
                    <a:lnT w="6350">
                      <a:solidFill>
                        <a:srgbClr val="C9D6E0"/>
                      </a:solidFill>
                    </a:lnT>
                    <a:lnB w="6350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3840479"/>
            <a:ext cx="3840480" cy="3840480"/>
          </a:xfrm>
          <a:prstGeom prst="ellipse">
            <a:avLst/>
          </a:prstGeom>
          <a:solidFill>
            <a:srgbClr val="16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297679"/>
            <a:ext cx="2926080" cy="2926080"/>
          </a:xfrm>
          <a:prstGeom prst="ellipse">
            <a:avLst/>
          </a:prstGeom>
          <a:solidFill>
            <a:srgbClr val="1B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4754879"/>
            <a:ext cx="2011680" cy="2011680"/>
          </a:xfrm>
          <a:prstGeom prst="ellipse">
            <a:avLst/>
          </a:prstGeom>
          <a:solidFill>
            <a:srgbClr val="2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5212080"/>
            <a:ext cx="1097280" cy="1097280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Key takeaways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645920"/>
            <a:ext cx="566928" cy="566928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27632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Plan piping around commissioning milestones, utilities first.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42032"/>
            <a:ext cx="566928" cy="566928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23744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Finish hydro tests before commissioning; isolate for later work.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38144"/>
            <a:ext cx="566928" cy="566928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419856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Control supports: install per drawing, verify cold setting with the TA.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334256"/>
            <a:ext cx="566928" cy="566928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315968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Check slope, flow direction and elevation on drawings before fit-up.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230368"/>
            <a:ext cx="566928" cy="566928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21208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Keep lines clean: remove caps, flush, purge and preserve.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